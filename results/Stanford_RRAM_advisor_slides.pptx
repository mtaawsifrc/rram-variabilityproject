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08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2A900"/>
                </a:solidFill>
                <a:latin typeface="Calibri"/>
              </a:rPr>
              <a:t>IEEE TRANSACTIONS ON NANOTECHNOLOGY  ·  MANUSCRIPT IN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60704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Device-Guided Calibration of the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Stanford RRAM Compact Model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900" b="0" i="1">
                <a:solidFill>
                  <a:srgbClr val="BFD6E6"/>
                </a:solidFill>
                <a:latin typeface="Calibri"/>
              </a:rPr>
              <a:t>Generalization, Identifiability, and Deposition Trends in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900" b="0" i="1">
                <a:solidFill>
                  <a:srgbClr val="BFD6E6"/>
                </a:solidFill>
                <a:latin typeface="Calibri"/>
              </a:rPr>
              <a:t>Sputter-Deposited TaOₓ Devices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Md Tawsif Rahman Chowdhury</a:t>
            </a:r>
            <a:r>
              <a:rPr sz="1600" b="0" i="0">
                <a:solidFill>
                  <a:srgbClr val="CFDCE6"/>
                </a:solidFill>
                <a:latin typeface="Calibri"/>
              </a:rPr>
              <a:t>    ·    Alireza Moazzeni    ·    Gozde Tutuncuoglu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9FB6C6"/>
                </a:solidFill>
                <a:latin typeface="Calibri"/>
              </a:rPr>
              <a:t>Department of Electrical &amp; Computer Engineering, Wayne State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715000"/>
            <a:ext cx="10515600" cy="64008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715000"/>
            <a:ext cx="101498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Fit quality is not enough — we also report </a:t>
            </a:r>
            <a:r>
              <a:rPr sz="1450" b="1" i="0">
                <a:solidFill>
                  <a:srgbClr val="F2A900"/>
                </a:solidFill>
                <a:latin typeface="Calibri"/>
              </a:rPr>
              <a:t>cycle-to-cycle generalization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 and </a:t>
            </a:r>
            <a:r>
              <a:rPr sz="1450" b="1" i="0">
                <a:solidFill>
                  <a:srgbClr val="F2A900"/>
                </a:solidFill>
                <a:latin typeface="Calibri"/>
              </a:rPr>
              <a:t>parameter identifiability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 with every extraction.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2A900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4712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 good overlay is necessary — but not sufficient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612648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0E2A47"/>
                </a:solidFill>
                <a:latin typeface="Calibri"/>
              </a:rPr>
              <a:t>Compact models are usually calibrated </a:t>
            </a:r>
            <a:r>
              <a:rPr sz="1500" b="0" i="0">
                <a:solidFill>
                  <a:srgbClr val="444B52"/>
                </a:solidFill>
                <a:latin typeface="Calibri"/>
              </a:rPr>
              <a:t>by matching one measured I–V loop. A clean overlay can be reached even when very different parameter sets fit equally well.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0E2A47"/>
                </a:solidFill>
                <a:latin typeface="Calibri"/>
              </a:rPr>
              <a:t>The risk: </a:t>
            </a:r>
            <a:r>
              <a:rPr sz="1500" b="0" i="0">
                <a:solidFill>
                  <a:srgbClr val="444B52"/>
                </a:solidFill>
                <a:latin typeface="Calibri"/>
              </a:rPr>
              <a:t>fit knobs get mistaken for material/process information — two fits with identical butterfly curves can disagree on Eₐ, Rₛ, or gap geometry.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0E2A47"/>
                </a:solidFill>
                <a:latin typeface="Calibri"/>
              </a:rPr>
              <a:t>We separate two questions rarely reported for RRAM:</a:t>
            </a:r>
            <a:r>
              <a:rPr sz="1500" b="0" i="0">
                <a:solidFill>
                  <a:srgbClr val="444B52"/>
                </a:solidFill>
                <a:latin typeface="Calibr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291840"/>
            <a:ext cx="576072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3291840"/>
            <a:ext cx="63500" cy="96012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54864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29A8E"/>
                </a:solidFill>
                <a:latin typeface="Calibri"/>
              </a:rPr>
              <a:t>Generalization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444B52"/>
                </a:solidFill>
                <a:latin typeface="Calibri"/>
              </a:rPr>
              <a:t>Does a fit to one representative cycle predict the other measured cycles of the same device?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434840"/>
            <a:ext cx="576072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4434840"/>
            <a:ext cx="63500" cy="9601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54864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C88A00"/>
                </a:solidFill>
                <a:latin typeface="Calibri"/>
              </a:rPr>
              <a:t>Identifiability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444B52"/>
                </a:solidFill>
                <a:latin typeface="Calibri"/>
              </a:rPr>
              <a:t>Which fitted parameters stay stable when the measured cycle population is resampled?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371600"/>
            <a:ext cx="4800600" cy="41605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0" y="1371600"/>
            <a:ext cx="4800600" cy="5029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37160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Our 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057400"/>
            <a:ext cx="429768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444B52"/>
                </a:solidFill>
                <a:latin typeface="Calibri"/>
              </a:rPr>
              <a:t>Reliable compact-model extraction must report </a:t>
            </a:r>
            <a:r>
              <a:rPr sz="1500" b="1" i="0">
                <a:solidFill>
                  <a:srgbClr val="0E2A47"/>
                </a:solidFill>
                <a:latin typeface="Calibri"/>
              </a:rPr>
              <a:t>three</a:t>
            </a:r>
            <a:r>
              <a:rPr sz="1500" b="0" i="0">
                <a:solidFill>
                  <a:srgbClr val="444B52"/>
                </a:solidFill>
                <a:latin typeface="Calibri"/>
              </a:rPr>
              <a:t> things together: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600" b="0" i="0">
                <a:solidFill>
                  <a:srgbClr val="444B52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0E2A47"/>
                </a:solidFill>
                <a:latin typeface="Calibri"/>
              </a:rPr>
              <a:t>1   Fit quality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0E2A47"/>
                </a:solidFill>
                <a:latin typeface="Calibri"/>
              </a:rPr>
              <a:t>2   Cycle-to-cycle generalization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0E2A47"/>
                </a:solidFill>
                <a:latin typeface="Calibri"/>
              </a:rPr>
              <a:t>3   Parameter identifiability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600" b="0" i="0">
                <a:solidFill>
                  <a:srgbClr val="444B52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0" i="1">
                <a:solidFill>
                  <a:srgbClr val="6B737B"/>
                </a:solidFill>
                <a:latin typeface="Calibri"/>
              </a:rPr>
              <a:t>…plus conduction-regime validity, so we know where the device physics sits outside the model.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37B"/>
                </a:solidFill>
                <a:latin typeface="Calibri"/>
              </a:rPr>
              <a:t>Device-Guided Calibration of the Stanford RRAM Model  ·  Chowdhury, Moazzeni, Tutuncuoglu  ·  Wayne State University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B737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2A900"/>
                </a:solidFill>
                <a:latin typeface="Calibri"/>
              </a:rPr>
              <a:t>DEVICES &amp;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4712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Twelve TaOₓ deposition conditions (DOE)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760720" cy="4023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0E2A47"/>
                </a:solidFill>
                <a:latin typeface="Calibri"/>
              </a:rPr>
              <a:t>Sputter-deposited TaOₓ </a:t>
            </a:r>
            <a:r>
              <a:rPr sz="1400" b="0" i="0">
                <a:solidFill>
                  <a:srgbClr val="444B52"/>
                </a:solidFill>
                <a:latin typeface="Calibri"/>
              </a:rPr>
              <a:t>cross-point RRAM, 4 µm feature, asymmetric Ta-oxide bilayer stack.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0E2A47"/>
                </a:solidFill>
                <a:latin typeface="Calibri"/>
              </a:rPr>
              <a:t>Two fab-facing knobs: </a:t>
            </a:r>
            <a:r>
              <a:rPr sz="1400" b="0" i="0">
                <a:solidFill>
                  <a:srgbClr val="444B52"/>
                </a:solidFill>
                <a:latin typeface="Calibri"/>
              </a:rPr>
              <a:t>O₂ fraction (20–35%) and RF sputter power (75–250 W).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0E2A47"/>
                </a:solidFill>
                <a:latin typeface="Calibri"/>
              </a:rPr>
              <a:t>Face-centered factorial </a:t>
            </a:r>
            <a:r>
              <a:rPr sz="1400" b="0" i="0">
                <a:solidFill>
                  <a:srgbClr val="444B52"/>
                </a:solidFill>
                <a:latin typeface="Calibri"/>
              </a:rPr>
              <a:t>with 4 replicated center points (S9–S12) — lets us test which extracted parameter is stable enough to plot vs. process.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0E2A47"/>
                </a:solidFill>
                <a:latin typeface="Calibri"/>
              </a:rPr>
              <a:t>Bipolar DC switching </a:t>
            </a:r>
            <a:r>
              <a:rPr sz="1400" b="0" i="0">
                <a:solidFill>
                  <a:srgbClr val="444B52"/>
                </a:solidFill>
                <a:latin typeface="Calibri"/>
              </a:rPr>
              <a:t>on a Keysight B1500; automated quality screen rejects shorted / open / noise-floor sweeps.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0E2A47"/>
                </a:solidFill>
                <a:latin typeface="Calibri"/>
              </a:rPr>
              <a:t>S1 reference device: </a:t>
            </a:r>
            <a:r>
              <a:rPr sz="1400" b="0" i="0">
                <a:solidFill>
                  <a:srgbClr val="444B52"/>
                </a:solidFill>
                <a:latin typeface="Calibri"/>
              </a:rPr>
              <a:t>all 40 cycles pass, mean quality 8.9/10.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20840" y="1417320"/>
          <a:ext cx="4937758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292"/>
                <a:gridCol w="1299410"/>
                <a:gridCol w="2079056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Sample</a:t>
                      </a:r>
                    </a:p>
                  </a:txBody>
                  <a:tcPr anchor="ctr" marT="12700" marB="12700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O₂ (%)</a:t>
                      </a:r>
                    </a:p>
                  </a:txBody>
                  <a:tcPr anchor="ctr" marT="12700" marB="12700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Power (W)</a:t>
                      </a:r>
                    </a:p>
                  </a:txBody>
                  <a:tcPr anchor="ctr" marT="12700" marB="12700">
                    <a:solidFill>
                      <a:srgbClr val="0E2A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44B52"/>
                          </a:solidFill>
                          <a:latin typeface="Calibri"/>
                        </a:rPr>
                        <a:t>S1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B52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B52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44B52"/>
                          </a:solidFill>
                          <a:latin typeface="Calibri"/>
                        </a:rPr>
                        <a:t>S2</a:t>
                      </a:r>
                    </a:p>
                  </a:txBody>
                  <a:tcPr anchor="ctr" marT="12700" marB="12700" marL="762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B52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T="12700" marB="12700" marL="762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B52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 anchor="ctr" marT="12700" marB="12700" marL="76200">
                    <a:solidFill>
                      <a:srgbClr val="F4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44B52"/>
                          </a:solidFill>
                          <a:latin typeface="Calibri"/>
                        </a:rPr>
                        <a:t>S3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B52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B52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44B52"/>
                          </a:solidFill>
                          <a:latin typeface="Calibri"/>
                        </a:rPr>
                        <a:t>S4</a:t>
                      </a:r>
                    </a:p>
                  </a:txBody>
                  <a:tcPr anchor="ctr" marT="12700" marB="12700" marL="762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B52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ctr" marT="12700" marB="12700" marL="762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B52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 anchor="ctr" marT="12700" marB="12700" marL="76200">
                    <a:solidFill>
                      <a:srgbClr val="F4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44B52"/>
                          </a:solidFill>
                          <a:latin typeface="Calibri"/>
                        </a:rPr>
                        <a:t>S5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B52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B52"/>
                          </a:solidFill>
                          <a:latin typeface="Calibri"/>
                        </a:rPr>
                        <a:t>162.5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44B52"/>
                          </a:solidFill>
                          <a:latin typeface="Calibri"/>
                        </a:rPr>
                        <a:t>S6</a:t>
                      </a:r>
                    </a:p>
                  </a:txBody>
                  <a:tcPr anchor="ctr" marT="12700" marB="12700" marL="762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B52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ctr" marT="12700" marB="12700" marL="762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B52"/>
                          </a:solidFill>
                          <a:latin typeface="Calibri"/>
                        </a:rPr>
                        <a:t>162.5</a:t>
                      </a:r>
                    </a:p>
                  </a:txBody>
                  <a:tcPr anchor="ctr" marT="12700" marB="12700" marL="76200">
                    <a:solidFill>
                      <a:srgbClr val="F4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44B52"/>
                          </a:solidFill>
                          <a:latin typeface="Calibri"/>
                        </a:rPr>
                        <a:t>S7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B52"/>
                          </a:solidFill>
                          <a:latin typeface="Calibri"/>
                        </a:rPr>
                        <a:t>27.5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B52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44B52"/>
                          </a:solidFill>
                          <a:latin typeface="Calibri"/>
                        </a:rPr>
                        <a:t>S8</a:t>
                      </a:r>
                    </a:p>
                  </a:txBody>
                  <a:tcPr anchor="ctr" marT="12700" marB="12700" marL="762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B52"/>
                          </a:solidFill>
                          <a:latin typeface="Calibri"/>
                        </a:rPr>
                        <a:t>27.5</a:t>
                      </a:r>
                    </a:p>
                  </a:txBody>
                  <a:tcPr anchor="ctr" marT="12700" marB="12700" marL="762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B52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 anchor="ctr" marT="12700" marB="12700" marL="76200">
                    <a:solidFill>
                      <a:srgbClr val="F4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44B52"/>
                          </a:solidFill>
                          <a:latin typeface="Calibri"/>
                        </a:rPr>
                        <a:t>S9–S12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B52"/>
                          </a:solidFill>
                          <a:latin typeface="Calibri"/>
                        </a:rPr>
                        <a:t>27.5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B52"/>
                          </a:solidFill>
                          <a:latin typeface="Calibri"/>
                        </a:rPr>
                        <a:t>162.5  (×4 center)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20840" y="553212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 i="1">
                <a:solidFill>
                  <a:srgbClr val="6B737B"/>
                </a:solidFill>
                <a:latin typeface="Calibri"/>
              </a:rPr>
              <a:t>Deposition design of experiments (Table I).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37B"/>
                </a:solidFill>
                <a:latin typeface="Calibri"/>
              </a:rPr>
              <a:t>Device-Guided Calibration of the Stanford RRAM Model  ·  Chowdhury, Moazzeni, Tutuncuoglu  ·  Wayne State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B737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2A900"/>
                </a:solidFill>
                <a:latin typeface="Calibri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4712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 device-first extraction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2697480" cy="4572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12648" y="1499616"/>
            <a:ext cx="292608" cy="292608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E2A47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453896"/>
            <a:ext cx="214884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Medoid 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24231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444B52"/>
                </a:solidFill>
                <a:latin typeface="Calibri"/>
              </a:rPr>
              <a:t>pick the representative measured sweep by ranked quality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417320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4992" y="1417320"/>
            <a:ext cx="2697480" cy="4572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74720" y="1499616"/>
            <a:ext cx="292608" cy="292608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E2A47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453896"/>
            <a:ext cx="214884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Regime classify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1965960"/>
            <a:ext cx="24231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444B52"/>
                </a:solidFill>
                <a:latin typeface="Calibri"/>
              </a:rPr>
              <a:t>ohmic / PF / Schottky / FN per segment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7064" y="1417320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7064" y="1417320"/>
            <a:ext cx="2697480" cy="4572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36792" y="1499616"/>
            <a:ext cx="292608" cy="292608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E2A47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552" y="1453896"/>
            <a:ext cx="214884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Physics priors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1965960"/>
            <a:ext cx="24231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444B52"/>
                </a:solidFill>
                <a:latin typeface="Calibri"/>
              </a:rPr>
              <a:t>regime-tied prior windows for 21 parameters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89136" y="1417320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89136" y="1417320"/>
            <a:ext cx="2697480" cy="4572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98864" y="1499616"/>
            <a:ext cx="292608" cy="292608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E2A47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64624" y="1453896"/>
            <a:ext cx="214884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Mechanism loss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1965960"/>
            <a:ext cx="24231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444B52"/>
                </a:solidFill>
                <a:latin typeface="Calibri"/>
              </a:rPr>
              <a:t>down-weight Schottky/FN points the model can't represent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108960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108960"/>
            <a:ext cx="2697480" cy="4572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12648" y="3191256"/>
            <a:ext cx="292608" cy="292608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E2A47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" y="3145536"/>
            <a:ext cx="214884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Bayesian opt.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657600"/>
            <a:ext cx="24231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444B52"/>
                </a:solidFill>
                <a:latin typeface="Calibri"/>
              </a:rPr>
              <a:t>HSPICE-in-the-loop, 48+160 evals, then Nelder–Mead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64992" y="3108960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64992" y="3108960"/>
            <a:ext cx="2697480" cy="4572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474720" y="3191256"/>
            <a:ext cx="292608" cy="292608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E2A47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3145536"/>
            <a:ext cx="214884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Generalization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02152" y="3657600"/>
            <a:ext cx="24231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444B52"/>
                </a:solidFill>
                <a:latin typeface="Calibri"/>
              </a:rPr>
              <a:t>score the medoid fit on every other cycle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27064" y="3108960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27064" y="3108960"/>
            <a:ext cx="2697480" cy="4572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36792" y="3191256"/>
            <a:ext cx="292608" cy="292608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E2A47"/>
                </a:solidFill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02552" y="3145536"/>
            <a:ext cx="214884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Identifiability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4224" y="3657600"/>
            <a:ext cx="24231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444B52"/>
                </a:solidFill>
                <a:latin typeface="Calibri"/>
              </a:rPr>
              <a:t>200 cycle-bootstrap refits + Fisher cross-check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89136" y="3108960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89136" y="3108960"/>
            <a:ext cx="2697480" cy="4572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198864" y="3191256"/>
            <a:ext cx="292608" cy="292608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E2A47"/>
                </a:solidFill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64624" y="3145536"/>
            <a:ext cx="214884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Ablation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26296" y="3657600"/>
            <a:ext cx="24231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444B52"/>
                </a:solidFill>
                <a:latin typeface="Calibri"/>
              </a:rPr>
              <a:t>isolate what priors / regime / BO each contribute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349240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0E2A47"/>
                </a:solidFill>
                <a:latin typeface="Calibri"/>
              </a:rPr>
              <a:t>Stanford–PKU Verilog-A model (rram_v_1_0_0): </a:t>
            </a:r>
            <a:r>
              <a:rPr sz="1300" b="0" i="0">
                <a:solidFill>
                  <a:srgbClr val="444B52"/>
                </a:solidFill>
                <a:latin typeface="Calibri"/>
              </a:rPr>
              <a:t>Iₜₕ = I₀·exp(−g/g₀)·sinh(V/V₀), gap evolves thermally.  Polarity-split V₀, Eₐ, ν₀, g; shared scale/parasitic terms.  616 HSPICE transients per point estimate.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37B"/>
                </a:solidFill>
                <a:latin typeface="Calibri"/>
              </a:rPr>
              <a:t>Device-Guided Calibration of the Stanford RRAM Model  ·  Chowdhury, Moazzeni, Tutuncuoglu  ·  Wayne State University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B737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2A900"/>
                </a:solidFill>
                <a:latin typeface="Calibri"/>
              </a:rPr>
              <a:t>RESULT 1 · DEVICE 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4712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Ohmic LRS, Schottky-limited HRS — across the whole DOE</a:t>
            </a:r>
          </a:p>
        </p:txBody>
      </p:sp>
      <p:pic>
        <p:nvPicPr>
          <p:cNvPr id="6" name="Picture 5" descr="S1_B6-01-4um-12_regim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1280160"/>
            <a:ext cx="5532120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328920"/>
            <a:ext cx="58521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1">
                <a:solidFill>
                  <a:srgbClr val="6B737B"/>
                </a:solidFill>
                <a:latin typeface="Calibri"/>
              </a:rPr>
              <a:t>S1 regime classification of the four resistance-state segments (Fig. 1).</a:t>
            </a:r>
          </a:p>
        </p:txBody>
      </p:sp>
      <p:pic>
        <p:nvPicPr>
          <p:cNvPr id="8" name="Picture 7" descr="mechanism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539240"/>
            <a:ext cx="5303520" cy="1767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3454400"/>
            <a:ext cx="53035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1">
                <a:solidFill>
                  <a:srgbClr val="6B737B"/>
                </a:solidFill>
                <a:latin typeface="Calibri"/>
              </a:rPr>
              <a:t>Dominant mechanism &amp; cycle stability, all 12 conditions (Fig. 2).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886200"/>
            <a:ext cx="530352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0E2A47"/>
                </a:solidFill>
                <a:latin typeface="Calibri"/>
              </a:rPr>
              <a:t>Post-SET LRS </a:t>
            </a:r>
            <a:r>
              <a:rPr sz="1250" b="0" i="0">
                <a:solidFill>
                  <a:srgbClr val="444B52"/>
                </a:solidFill>
                <a:latin typeface="Calibri"/>
              </a:rPr>
              <a:t>is ohmic-dominant for every condition (66–100% stability).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0E2A47"/>
                </a:solidFill>
                <a:latin typeface="Calibri"/>
              </a:rPr>
              <a:t>Post-RESET HRS </a:t>
            </a:r>
            <a:r>
              <a:rPr sz="1250" b="0" i="0">
                <a:solidFill>
                  <a:srgbClr val="444B52"/>
                </a:solidFill>
                <a:latin typeface="Calibri"/>
              </a:rPr>
              <a:t>is Schottky-dominant in 92.5–100% of cycles, εᵣᵈʸⁿ = 4.7–34 (physically admissible).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0E2A47"/>
                </a:solidFill>
                <a:latin typeface="Calibri"/>
              </a:rPr>
              <a:t>PF is rare </a:t>
            </a:r>
            <a:r>
              <a:rPr sz="1250" b="0" i="0">
                <a:solidFill>
                  <a:srgbClr val="444B52"/>
                </a:solidFill>
                <a:latin typeface="Calibri"/>
              </a:rPr>
              <a:t>— it is not the dominant mechanism for any state/condition.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0E2A47"/>
                </a:solidFill>
                <a:latin typeface="Calibri"/>
              </a:rPr>
              <a:t>Implication: </a:t>
            </a:r>
            <a:r>
              <a:rPr sz="1250" b="0" i="0">
                <a:solidFill>
                  <a:srgbClr val="444B52"/>
                </a:solidFill>
                <a:latin typeface="Calibri"/>
              </a:rPr>
              <a:t>Stanford bulk sinh law has no explicit Schottky branch → expect a RESET residual floor.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37B"/>
                </a:solidFill>
                <a:latin typeface="Calibri"/>
              </a:rPr>
              <a:t>Device-Guided Calibration of the Stanford RRAM Model  ·  Chowdhury, Moazzeni, Tutuncuoglu  ·  Wayne State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B737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2A900"/>
                </a:solidFill>
                <a:latin typeface="Calibri"/>
              </a:rPr>
              <a:t>RESULT 2 · POINT ESTIMATE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4712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fits reproduce the measured butterfly curves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6974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697480" cy="635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2697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29A8E"/>
                </a:solidFill>
                <a:latin typeface="Calibri"/>
              </a:rPr>
              <a:t>0.530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2697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0E2A47"/>
                </a:solidFill>
                <a:latin typeface="Calibri"/>
              </a:rPr>
              <a:t>Mean SET RMSE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2697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1">
                <a:solidFill>
                  <a:srgbClr val="6B737B"/>
                </a:solidFill>
                <a:latin typeface="Calibri"/>
              </a:rPr>
              <a:t>log₁₀|I| decades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6974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371600"/>
            <a:ext cx="2697480" cy="635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536192"/>
            <a:ext cx="2697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2A900"/>
                </a:solidFill>
                <a:latin typeface="Calibri"/>
              </a:rPr>
              <a:t>0.761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148840"/>
            <a:ext cx="2697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0E2A47"/>
                </a:solidFill>
                <a:latin typeface="Calibri"/>
              </a:rPr>
              <a:t>Mean RESET RMSE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743200"/>
            <a:ext cx="2697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1">
                <a:solidFill>
                  <a:srgbClr val="6B737B"/>
                </a:solidFill>
                <a:latin typeface="Calibri"/>
              </a:rPr>
              <a:t>harder: Schottky HRS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3520440"/>
          <a:ext cx="5577837" cy="1837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1696"/>
                <a:gridCol w="1154035"/>
                <a:gridCol w="1346375"/>
                <a:gridCol w="961696"/>
                <a:gridCol w="1154035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Cond.</a:t>
                      </a:r>
                    </a:p>
                  </a:txBody>
                  <a:tcPr anchor="ctr" marT="12700" marB="12700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RMSE SET</a:t>
                      </a:r>
                    </a:p>
                  </a:txBody>
                  <a:tcPr anchor="ctr" marT="12700" marB="12700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RMSE RESET</a:t>
                      </a:r>
                    </a:p>
                  </a:txBody>
                  <a:tcPr anchor="ctr" marT="12700" marB="12700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DW SET</a:t>
                      </a:r>
                    </a:p>
                  </a:txBody>
                  <a:tcPr anchor="ctr" marT="12700" marB="12700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DW RESET</a:t>
                      </a:r>
                    </a:p>
                  </a:txBody>
                  <a:tcPr anchor="ctr" marT="12700" marB="12700">
                    <a:solidFill>
                      <a:srgbClr val="0E2A4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44B52"/>
                          </a:solidFill>
                          <a:latin typeface="Calibri"/>
                        </a:rPr>
                        <a:t>S1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B52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B52"/>
                          </a:solidFill>
                          <a:latin typeface="Calibri"/>
                        </a:rPr>
                        <a:t>0.689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B52"/>
                          </a:solidFill>
                          <a:latin typeface="Calibri"/>
                        </a:rPr>
                        <a:t>0.86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B52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44B52"/>
                          </a:solidFill>
                          <a:latin typeface="Calibri"/>
                        </a:rPr>
                        <a:t>S2</a:t>
                      </a:r>
                    </a:p>
                  </a:txBody>
                  <a:tcPr anchor="ctr" marT="12700" marB="12700" marL="762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B52"/>
                          </a:solidFill>
                          <a:latin typeface="Calibri"/>
                        </a:rPr>
                        <a:t>0.772</a:t>
                      </a:r>
                    </a:p>
                  </a:txBody>
                  <a:tcPr anchor="ctr" marT="12700" marB="12700" marL="762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B52"/>
                          </a:solidFill>
                          <a:latin typeface="Calibri"/>
                        </a:rPr>
                        <a:t>1.016</a:t>
                      </a:r>
                    </a:p>
                  </a:txBody>
                  <a:tcPr anchor="ctr" marT="12700" marB="12700" marL="762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B52"/>
                          </a:solidFill>
                          <a:latin typeface="Calibri"/>
                        </a:rPr>
                        <a:t>0.46</a:t>
                      </a:r>
                    </a:p>
                  </a:txBody>
                  <a:tcPr anchor="ctr" marT="12700" marB="12700" marL="762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B52"/>
                          </a:solidFill>
                          <a:latin typeface="Calibri"/>
                        </a:rPr>
                        <a:t>0.56</a:t>
                      </a:r>
                    </a:p>
                  </a:txBody>
                  <a:tcPr anchor="ctr" marT="12700" marB="12700" marL="76200">
                    <a:solidFill>
                      <a:srgbClr val="F4F7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44B52"/>
                          </a:solidFill>
                          <a:latin typeface="Calibri"/>
                        </a:rPr>
                        <a:t>S6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B52"/>
                          </a:solidFill>
                          <a:latin typeface="Calibri"/>
                        </a:rPr>
                        <a:t>0.468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B52"/>
                          </a:solidFill>
                          <a:latin typeface="Calibri"/>
                        </a:rPr>
                        <a:t>0.650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B52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B52"/>
                          </a:solidFill>
                          <a:latin typeface="Calibri"/>
                        </a:rPr>
                        <a:t>0.93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44B52"/>
                          </a:solidFill>
                          <a:latin typeface="Calibri"/>
                        </a:rPr>
                        <a:t>S8</a:t>
                      </a:r>
                    </a:p>
                  </a:txBody>
                  <a:tcPr anchor="ctr" marT="12700" marB="12700" marL="762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B52"/>
                          </a:solidFill>
                          <a:latin typeface="Calibri"/>
                        </a:rPr>
                        <a:t>0.495</a:t>
                      </a:r>
                    </a:p>
                  </a:txBody>
                  <a:tcPr anchor="ctr" marT="12700" marB="12700" marL="762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B52"/>
                          </a:solidFill>
                          <a:latin typeface="Calibri"/>
                        </a:rPr>
                        <a:t>1.001</a:t>
                      </a:r>
                    </a:p>
                  </a:txBody>
                  <a:tcPr anchor="ctr" marT="12700" marB="12700" marL="762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B52"/>
                          </a:solidFill>
                          <a:latin typeface="Calibri"/>
                        </a:rPr>
                        <a:t>1.03</a:t>
                      </a:r>
                    </a:p>
                  </a:txBody>
                  <a:tcPr anchor="ctr" marT="12700" marB="12700" marL="762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B52"/>
                          </a:solidFill>
                          <a:latin typeface="Calibri"/>
                        </a:rPr>
                        <a:t>0.54</a:t>
                      </a:r>
                    </a:p>
                  </a:txBody>
                  <a:tcPr anchor="ctr" marT="12700" marB="12700" marL="76200">
                    <a:solidFill>
                      <a:srgbClr val="F4F7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44B52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B52"/>
                          </a:solidFill>
                          <a:latin typeface="Calibri"/>
                        </a:rPr>
                        <a:t>0.530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B52"/>
                          </a:solidFill>
                          <a:latin typeface="Calibri"/>
                        </a:rPr>
                        <a:t>0.761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B5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B5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02920" y="5486400"/>
            <a:ext cx="55778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1">
                <a:solidFill>
                  <a:srgbClr val="6B737B"/>
                </a:solidFill>
                <a:latin typeface="Calibri"/>
              </a:rPr>
              <a:t>Excerpt of Table II (12 conditions total).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417320"/>
            <a:ext cx="534924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5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0E2A47"/>
                </a:solidFill>
                <a:latin typeface="Calibri"/>
              </a:rPr>
              <a:t>Captured: </a:t>
            </a:r>
            <a:r>
              <a:rPr sz="1350" b="0" i="0">
                <a:solidFill>
                  <a:srgbClr val="444B52"/>
                </a:solidFill>
                <a:latin typeface="Calibri"/>
              </a:rPr>
              <a:t>hysteresis order, SET &amp; RESET transitions, compliance region, LRS return branch.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5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0E2A47"/>
                </a:solidFill>
                <a:latin typeface="Calibri"/>
              </a:rPr>
              <a:t>Largest residuals </a:t>
            </a:r>
            <a:r>
              <a:rPr sz="1350" b="0" i="0">
                <a:solidFill>
                  <a:srgbClr val="444B52"/>
                </a:solidFill>
                <a:latin typeface="Calibri"/>
              </a:rPr>
              <a:t>sit at the SET transition and the Schottky-limited HRS approach — exactly where the regime map warned the current law is incomplete.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5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0E2A47"/>
                </a:solidFill>
                <a:latin typeface="Calibri"/>
              </a:rPr>
              <a:t>Durbin–Watson &lt; 2 everywhere: </a:t>
            </a:r>
            <a:r>
              <a:rPr sz="1350" b="0" i="0">
                <a:solidFill>
                  <a:srgbClr val="444B52"/>
                </a:solidFill>
                <a:latin typeface="Calibri"/>
              </a:rPr>
              <a:t>residuals are correlated along the sweep — remaining error is systematic model mismatch, not measurement scatter.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5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0E2A47"/>
                </a:solidFill>
                <a:latin typeface="Calibri"/>
              </a:rPr>
              <a:t>S2 is the worst case </a:t>
            </a:r>
            <a:r>
              <a:rPr sz="1350" b="0" i="0">
                <a:solidFill>
                  <a:srgbClr val="444B52"/>
                </a:solidFill>
                <a:latin typeface="Calibri"/>
              </a:rPr>
              <a:t>(O₂-poor, high power): largest RESET RMSE, lowest SET DW, least stable Schottky assignment.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37B"/>
                </a:solidFill>
                <a:latin typeface="Calibri"/>
              </a:rPr>
              <a:t>Device-Guided Calibration of the Stanford RRAM Model  ·  Chowdhury, Moazzeni, Tutuncuoglu  ·  Wayne State University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B737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2A900"/>
                </a:solidFill>
                <a:latin typeface="Calibri"/>
              </a:rPr>
              <a:t>RESULT 3 · GENERALIZATION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4712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 one-cycle fit predicts every other cycle</a:t>
            </a:r>
          </a:p>
        </p:txBody>
      </p:sp>
      <p:pic>
        <p:nvPicPr>
          <p:cNvPr id="6" name="Picture 5" descr="heldout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33" y="1325880"/>
            <a:ext cx="5185133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820160"/>
            <a:ext cx="5943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1">
                <a:solidFill>
                  <a:srgbClr val="6B737B"/>
                </a:solidFill>
                <a:latin typeface="Calibri"/>
              </a:rPr>
              <a:t>Held-out per-cycle RMSE; stars = in-sample medoid (Fig. 4).</a:t>
            </a:r>
          </a:p>
        </p:txBody>
      </p:sp>
      <p:pic>
        <p:nvPicPr>
          <p:cNvPr id="8" name="Picture 7" descr="heldout_overlay_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203" y="4160520"/>
            <a:ext cx="4519594" cy="1965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151880"/>
            <a:ext cx="5943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1">
                <a:solidFill>
                  <a:srgbClr val="6B737B"/>
                </a:solidFill>
                <a:latin typeface="Calibri"/>
              </a:rPr>
              <a:t>S1 fit vs. measured cycle-to-cycle envelope (Fig. 5).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371600"/>
            <a:ext cx="237744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0" y="1371600"/>
            <a:ext cx="2377440" cy="635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536192"/>
            <a:ext cx="23774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29A8E"/>
                </a:solidFill>
                <a:latin typeface="Calibri"/>
              </a:rPr>
              <a:t>0.012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4884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0E2A47"/>
                </a:solidFill>
                <a:latin typeface="Calibri"/>
              </a:rPr>
              <a:t>SET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0604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1">
                <a:solidFill>
                  <a:srgbClr val="6B737B"/>
                </a:solidFill>
                <a:latin typeface="Calibri"/>
              </a:rPr>
              <a:t>held-out − in-sample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0" y="1371600"/>
            <a:ext cx="237744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81160" y="1371600"/>
            <a:ext cx="2377440" cy="635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536192"/>
            <a:ext cx="23774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2A900"/>
                </a:solidFill>
                <a:latin typeface="Calibri"/>
              </a:rPr>
              <a:t>0.039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14884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0E2A47"/>
                </a:solidFill>
                <a:latin typeface="Calibri"/>
              </a:rPr>
              <a:t>RESET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60604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1">
                <a:solidFill>
                  <a:srgbClr val="6B737B"/>
                </a:solidFill>
                <a:latin typeface="Calibri"/>
              </a:rPr>
              <a:t>decades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291840"/>
            <a:ext cx="5074920" cy="2926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Held-out medians </a:t>
            </a:r>
            <a:r>
              <a:rPr sz="1300" b="0" i="0">
                <a:solidFill>
                  <a:srgbClr val="444B52"/>
                </a:solidFill>
                <a:latin typeface="Calibri"/>
              </a:rPr>
              <a:t>0.542 (SET) / 0.800 (RESET) vs. in-sample 0.530 / 0.761.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Every condition: </a:t>
            </a:r>
            <a:r>
              <a:rPr sz="1300" b="0" i="0">
                <a:solidFill>
                  <a:srgbClr val="444B52"/>
                </a:solidFill>
                <a:latin typeface="Calibri"/>
              </a:rPr>
              <a:t>in-sample RMSE falls inside the held-out interquartile range.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Coverage: </a:t>
            </a:r>
            <a:r>
              <a:rPr sz="1300" b="0" i="0">
                <a:solidFill>
                  <a:srgbClr val="444B52"/>
                </a:solidFill>
                <a:latin typeface="Calibri"/>
              </a:rPr>
              <a:t>fitted SET curve stays inside the measured min–max band at 77% of points (63% for RESET).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Takeaway: </a:t>
            </a:r>
            <a:r>
              <a:rPr sz="1300" b="0" i="0">
                <a:solidFill>
                  <a:srgbClr val="444B52"/>
                </a:solidFill>
                <a:latin typeface="Calibri"/>
              </a:rPr>
              <a:t>the fit describes the device population — not a memorized trace. Lower RESET coverage = missing Schottky branch, not overfitting.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37B"/>
                </a:solidFill>
                <a:latin typeface="Calibri"/>
              </a:rPr>
              <a:t>Device-Guided Calibration of the Stanford RRAM Model  ·  Chowdhury, Moazzeni, Tutuncuoglu  ·  Wayne State University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B737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2A900"/>
                </a:solidFill>
                <a:latin typeface="Calibri"/>
              </a:rPr>
              <a:t>RESULT 4 · IDENTIFIABILITY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4712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the DC data actually constrain</a:t>
            </a:r>
          </a:p>
        </p:txBody>
      </p:sp>
      <p:pic>
        <p:nvPicPr>
          <p:cNvPr id="6" name="Picture 5" descr="parameter_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84960"/>
            <a:ext cx="5852160" cy="3413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83200"/>
            <a:ext cx="58521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1">
                <a:solidFill>
                  <a:srgbClr val="6B737B"/>
                </a:solidFill>
                <a:latin typeface="Calibri"/>
              </a:rPr>
              <a:t>Cycle-bootstrap CV, 200 refits × 12 conditions — primary evidence (Fig. 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5257800" cy="3108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Repeatable: </a:t>
            </a:r>
            <a:r>
              <a:rPr sz="1300" b="0" i="0">
                <a:solidFill>
                  <a:srgbClr val="444B52"/>
                </a:solidFill>
                <a:latin typeface="Calibri"/>
              </a:rPr>
              <a:t>branch voltage scales V₀, median CV ≈ 0.28 — the butterfly curvature pins them down.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Not repeatable: </a:t>
            </a:r>
            <a:r>
              <a:rPr sz="1300" b="0" i="0">
                <a:solidFill>
                  <a:srgbClr val="444B52"/>
                </a:solidFill>
                <a:latin typeface="Calibri"/>
              </a:rPr>
              <a:t>Rₛ (CV 1.44), velocity prefactors ν₀ (1.19 / 1.28), I₀ and Eₐ also vary widely (CV &gt; 1).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Fisher cross-check </a:t>
            </a:r>
            <a:r>
              <a:rPr sz="1300" b="0" i="0">
                <a:solidFill>
                  <a:srgbClr val="444B52"/>
                </a:solidFill>
                <a:latin typeface="Calibri"/>
              </a:rPr>
              <a:t>agrees on the broad picture, but condition numbers 10¹⁸–10⁶⁶ make it a local sensitivity map only.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Rₛ is the cautionary case: </a:t>
            </a:r>
            <a:r>
              <a:rPr sz="1300" b="0" i="0">
                <a:solidFill>
                  <a:srgbClr val="444B52"/>
                </a:solidFill>
                <a:latin typeface="Calibri"/>
              </a:rPr>
              <a:t>looks locally well-determined at one optimum, yet swings under cycle resampling.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4709160"/>
            <a:ext cx="5257800" cy="13258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4846320"/>
            <a:ext cx="484632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F2A900"/>
                </a:solidFill>
                <a:latin typeface="Calibri"/>
              </a:rPr>
              <a:t>Bottom line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DC butterfly data constrain effective branch scales &amp; switching-field combinations — not a unique split into prefactors, activation energies, and gap geometry.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37B"/>
                </a:solidFill>
                <a:latin typeface="Calibri"/>
              </a:rPr>
              <a:t>Device-Guided Calibration of the Stanford RRAM Model  ·  Chowdhury, Moazzeni, Tutuncuoglu  ·  Wayne State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B737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2A900"/>
                </a:solidFill>
                <a:latin typeface="Calibri"/>
              </a:rPr>
              <a:t>RESULT 5 · ABLATION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4712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each ingredient actually buys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6400798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3418"/>
                <a:gridCol w="1648690"/>
                <a:gridCol w="164869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Variant</a:t>
                      </a:r>
                    </a:p>
                  </a:txBody>
                  <a:tcPr anchor="ctr" marT="12700" marB="12700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RMSE SET</a:t>
                      </a:r>
                    </a:p>
                  </a:txBody>
                  <a:tcPr anchor="ctr" marT="12700" marB="12700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RMSE RESET</a:t>
                      </a:r>
                    </a:p>
                  </a:txBody>
                  <a:tcPr anchor="ctr" marT="12700" marB="12700">
                    <a:solidFill>
                      <a:srgbClr val="0E2A4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444B52"/>
                          </a:solidFill>
                          <a:latin typeface="Calibri"/>
                        </a:rPr>
                        <a:t>Regime-conditioned + weighting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44B52"/>
                          </a:solidFill>
                          <a:latin typeface="Calibri"/>
                        </a:rPr>
                        <a:t>0.530 ± 0.081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44B52"/>
                          </a:solidFill>
                          <a:latin typeface="Calibri"/>
                        </a:rPr>
                        <a:t>0.761 ± 0.123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444B52"/>
                          </a:solidFill>
                          <a:latin typeface="Calibri"/>
                        </a:rPr>
                        <a:t>Physics priors + BO</a:t>
                      </a:r>
                    </a:p>
                  </a:txBody>
                  <a:tcPr anchor="ctr" marT="12700" marB="12700" marL="762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44B52"/>
                          </a:solidFill>
                          <a:latin typeface="Calibri"/>
                        </a:rPr>
                        <a:t>0.546 ± 0.077</a:t>
                      </a:r>
                    </a:p>
                  </a:txBody>
                  <a:tcPr anchor="ctr" marT="12700" marB="12700" marL="762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44B52"/>
                          </a:solidFill>
                          <a:latin typeface="Calibri"/>
                        </a:rPr>
                        <a:t>0.756 ± 0.124</a:t>
                      </a:r>
                    </a:p>
                  </a:txBody>
                  <a:tcPr anchor="ctr" marT="12700" marB="12700" marL="76200">
                    <a:solidFill>
                      <a:srgbClr val="F4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444B52"/>
                          </a:solidFill>
                          <a:latin typeface="Calibri"/>
                        </a:rPr>
                        <a:t>Uninformative priors + BO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44B52"/>
                          </a:solidFill>
                          <a:latin typeface="Calibri"/>
                        </a:rPr>
                        <a:t>0.537 ± 0.076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44B52"/>
                          </a:solidFill>
                          <a:latin typeface="Calibri"/>
                        </a:rPr>
                        <a:t>0.755 ± 0.126</a:t>
                      </a:r>
                    </a:p>
                  </a:txBody>
                  <a:tcPr anchor="ctr" marT="12700" marB="12700" marL="762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444B52"/>
                          </a:solidFill>
                          <a:latin typeface="Calibri"/>
                        </a:rPr>
                        <a:t>Physics priors, no BO</a:t>
                      </a:r>
                    </a:p>
                  </a:txBody>
                  <a:tcPr anchor="ctr" marT="12700" marB="12700" marL="762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44B52"/>
                          </a:solidFill>
                          <a:latin typeface="Calibri"/>
                        </a:rPr>
                        <a:t>0.571 ± 0.115</a:t>
                      </a:r>
                    </a:p>
                  </a:txBody>
                  <a:tcPr anchor="ctr" marT="12700" marB="12700" marL="762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44B52"/>
                          </a:solidFill>
                          <a:latin typeface="Calibri"/>
                        </a:rPr>
                        <a:t>1.528 ± 0.434</a:t>
                      </a:r>
                    </a:p>
                  </a:txBody>
                  <a:tcPr anchor="ctr" marT="12700" marB="12700" marL="76200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023360"/>
            <a:ext cx="6400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1">
                <a:solidFill>
                  <a:srgbClr val="6B737B"/>
                </a:solidFill>
                <a:latin typeface="Calibri"/>
              </a:rPr>
              <a:t>Unweighted validation RMSE so weighting gives no scoring advantage (Table IV).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554480"/>
            <a:ext cx="4434840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Optimization is the must-have: </a:t>
            </a:r>
            <a:r>
              <a:rPr sz="1300" b="0" i="0">
                <a:solidFill>
                  <a:srgbClr val="444B52"/>
                </a:solidFill>
                <a:latin typeface="Calibri"/>
              </a:rPr>
              <a:t>no-BO RESET balloons to 1.53 decades vs. ~0.76 for optimized variants.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Three optimized variants </a:t>
            </a:r>
            <a:r>
              <a:rPr sz="1300" b="0" i="0">
                <a:solidFill>
                  <a:srgbClr val="444B52"/>
                </a:solidFill>
                <a:latin typeface="Calibri"/>
              </a:rPr>
              <a:t>land at nearly identical overlay error.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So priors/regime don't lower the overlay — </a:t>
            </a:r>
            <a:r>
              <a:rPr sz="1300" b="0" i="0">
                <a:solidFill>
                  <a:srgbClr val="444B52"/>
                </a:solidFill>
                <a:latin typeface="Calibri"/>
              </a:rPr>
              <a:t>they stop the fit from abusing unsupported Schottky/FN HRS regions to distort Stanford bulk parameters.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Reinforces the thesis: </a:t>
            </a:r>
            <a:r>
              <a:rPr sz="1300" b="0" i="0">
                <a:solidFill>
                  <a:srgbClr val="444B52"/>
                </a:solidFill>
                <a:latin typeface="Calibri"/>
              </a:rPr>
              <a:t>overlay alone can't establish physical extraction. Generalization + identifiability decide what's trustworthy.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37B"/>
                </a:solidFill>
                <a:latin typeface="Calibri"/>
              </a:rPr>
              <a:t>Device-Guided Calibration of the Stanford RRAM Model  ·  Chowdhury, Moazzeni, Tutuncuoglu  ·  Wayne State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B737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2A900"/>
                </a:solidFill>
                <a:latin typeface="Calibri"/>
              </a:rPr>
              <a:t>RESULT 6 · PROCESS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4712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Only identifiable parameters get a response surface</a:t>
            </a:r>
          </a:p>
        </p:txBody>
      </p:sp>
      <p:pic>
        <p:nvPicPr>
          <p:cNvPr id="6" name="Picture 5" descr="deposition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38817"/>
            <a:ext cx="4572000" cy="41803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557520"/>
            <a:ext cx="45720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1">
                <a:solidFill>
                  <a:srgbClr val="6B737B"/>
                </a:solidFill>
                <a:latin typeface="Calibri"/>
              </a:rPr>
              <a:t>Bootstrap-identifiable parameters vs. deposition (Fig. 8).</a:t>
            </a:r>
          </a:p>
        </p:txBody>
      </p:sp>
      <p:pic>
        <p:nvPicPr>
          <p:cNvPr id="8" name="Picture 7" descr="hrs_schottky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665" y="1417320"/>
            <a:ext cx="5219630" cy="2194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66360" y="3637280"/>
            <a:ext cx="649224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1">
                <a:solidFill>
                  <a:srgbClr val="6B737B"/>
                </a:solidFill>
                <a:latin typeface="Calibri"/>
              </a:rPr>
              <a:t>Post-RESET HRS dynamic permittivity vs. O₂ and power (Fig. 9).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3886200"/>
            <a:ext cx="6492240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0E2A47"/>
                </a:solidFill>
                <a:latin typeface="Calibri"/>
              </a:rPr>
              <a:t>V₀,SET and V₀,RESET </a:t>
            </a:r>
            <a:r>
              <a:rPr sz="1250" b="0" i="0">
                <a:solidFill>
                  <a:srgbClr val="444B52"/>
                </a:solidFill>
                <a:latin typeface="Calibri"/>
              </a:rPr>
              <a:t>have tight bootstrap CIs and move systematically with deposition → usable process trends.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0E2A47"/>
                </a:solidFill>
                <a:latin typeface="Calibri"/>
              </a:rPr>
              <a:t>Rₛ spans 1–2 decades </a:t>
            </a:r>
            <a:r>
              <a:rPr sz="1250" b="0" i="0">
                <a:solidFill>
                  <a:srgbClr val="444B52"/>
                </a:solidFill>
                <a:latin typeface="Calibri"/>
              </a:rPr>
              <a:t>in its bootstrap CI — locally Fisher-identifiable, but must NOT be a response-surface output.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129A8E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0E2A47"/>
                </a:solidFill>
                <a:latin typeface="Calibri"/>
              </a:rPr>
              <a:t>HRS εᵣᵈʸⁿ = 4.7–32 </a:t>
            </a:r>
            <a:r>
              <a:rPr sz="1250" b="0" i="0">
                <a:solidFill>
                  <a:srgbClr val="444B52"/>
                </a:solidFill>
                <a:latin typeface="Calibri"/>
              </a:rPr>
              <a:t>for all 12 conditions; ~3× scatter across center points (S9–S12) reveals interface variability — an automated extension of prior manual analysis.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37B"/>
                </a:solidFill>
                <a:latin typeface="Calibri"/>
              </a:rPr>
              <a:t>Device-Guided Calibration of the Stanford RRAM Model  ·  Chowdhury, Moazzeni, Tutuncuoglu  ·  Wayne State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B737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A900"/>
                </a:solidFill>
                <a:latin typeface="Calibri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Report extraction with three numbers, not 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10607040" cy="38100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121408"/>
            <a:ext cx="256032" cy="256032"/>
          </a:xfrm>
          <a:prstGeom prst="ellipse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057400"/>
            <a:ext cx="102412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650" b="1" i="0">
                <a:solidFill>
                  <a:srgbClr val="F2A900"/>
                </a:solidFill>
                <a:latin typeface="Calibri"/>
              </a:rPr>
              <a:t>Fits are accurate  —  </a:t>
            </a:r>
            <a:r>
              <a:rPr sz="1500" b="0" i="0">
                <a:solidFill>
                  <a:srgbClr val="DDE6EE"/>
                </a:solidFill>
                <a:latin typeface="Calibri"/>
              </a:rPr>
              <a:t>Mean RMSE 0.530 (SET) / 0.761 (RESET) decades across all 12 TaOₓ conditions.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962656"/>
            <a:ext cx="256032" cy="256032"/>
          </a:xfrm>
          <a:prstGeom prst="ellipse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898648"/>
            <a:ext cx="102412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650" b="1" i="0">
                <a:solidFill>
                  <a:srgbClr val="F2A900"/>
                </a:solidFill>
                <a:latin typeface="Calibri"/>
              </a:rPr>
              <a:t>…and they generalize  —  </a:t>
            </a:r>
            <a:r>
              <a:rPr sz="1500" b="0" i="0">
                <a:solidFill>
                  <a:srgbClr val="DDE6EE"/>
                </a:solidFill>
                <a:latin typeface="Calibri"/>
              </a:rPr>
              <a:t>One-cycle fit predicts held-out cycles within 0.012 / 0.039 decades — the device, not one trace.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803904"/>
            <a:ext cx="256032" cy="256032"/>
          </a:xfrm>
          <a:prstGeom prst="ellipse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739896"/>
            <a:ext cx="102412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650" b="1" i="0">
                <a:solidFill>
                  <a:srgbClr val="F2A900"/>
                </a:solidFill>
                <a:latin typeface="Calibri"/>
              </a:rPr>
              <a:t>Most parameters aren't identifiable  —  </a:t>
            </a:r>
            <a:r>
              <a:rPr sz="1500" b="0" i="0">
                <a:solidFill>
                  <a:srgbClr val="DDE6EE"/>
                </a:solidFill>
                <a:latin typeface="Calibri"/>
              </a:rPr>
              <a:t>Only branch voltage scales V₀ are repeatable (CV ≈ 0.28); Rₛ, ν₀, Eₐ, gap geometry are not (CV &gt; 1).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645152"/>
            <a:ext cx="256032" cy="256032"/>
          </a:xfrm>
          <a:prstGeom prst="ellipse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4581144"/>
            <a:ext cx="102412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650" b="1" i="0">
                <a:solidFill>
                  <a:srgbClr val="F2A900"/>
                </a:solidFill>
                <a:latin typeface="Calibri"/>
              </a:rPr>
              <a:t>Process trends, conservatively  —  </a:t>
            </a:r>
            <a:r>
              <a:rPr sz="1500" b="0" i="0">
                <a:solidFill>
                  <a:srgbClr val="DDE6EE"/>
                </a:solidFill>
                <a:latin typeface="Calibri"/>
              </a:rPr>
              <a:t>Only V₀ supports a deposition response surface; Rₛ cannot, despite looking locally identifiable.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486400"/>
            <a:ext cx="256032" cy="256032"/>
          </a:xfrm>
          <a:prstGeom prst="ellipse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5422392"/>
            <a:ext cx="102412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650" b="1" i="0">
                <a:solidFill>
                  <a:srgbClr val="F2A900"/>
                </a:solidFill>
                <a:latin typeface="Calibri"/>
              </a:rPr>
              <a:t>Model adequacy is the RESET floor  —  </a:t>
            </a:r>
            <a:r>
              <a:rPr sz="1500" b="0" i="0">
                <a:solidFill>
                  <a:srgbClr val="DDE6EE"/>
                </a:solidFill>
                <a:latin typeface="Calibri"/>
              </a:rPr>
              <a:t>Post-RESET HRS is Schottky-dominant in 92.5–100% of cycles — outside the Stanford bulk sinh law.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55080"/>
            <a:ext cx="10607040" cy="914"/>
          </a:xfrm>
          <a:prstGeom prst="rect">
            <a:avLst/>
          </a:prstGeom>
          <a:solidFill>
            <a:srgbClr val="12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106984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1">
                <a:solidFill>
                  <a:srgbClr val="9FB6C6"/>
                </a:solidFill>
                <a:latin typeface="Calibri"/>
              </a:rPr>
              <a:t>Next: add a barrier-limited HRS branch to the compact model — the regime map already supplies the target windows and slopes.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